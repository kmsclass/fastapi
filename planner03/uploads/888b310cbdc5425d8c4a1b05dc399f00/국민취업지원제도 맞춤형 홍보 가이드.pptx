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229350"/>
            <a:ext cx="10668000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81750"/>
            <a:ext cx="52580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3A8A"/>
                </a:solidFill>
                <a:latin typeface="Noto Sans KR"/>
              </a:rPr>
              <a:t>STAFFS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986111"/>
            <a:ext cx="2747069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 dirty="0" err="1">
                <a:solidFill>
                  <a:srgbClr val="2563EB"/>
                </a:solidFill>
                <a:latin typeface="Noto Sans KR Medium"/>
              </a:rPr>
              <a:t>훈련기관</a:t>
            </a:r>
            <a:r>
              <a:rPr sz="1650" b="0" i="0" u="none" dirty="0">
                <a:solidFill>
                  <a:srgbClr val="2563EB"/>
                </a:solidFill>
                <a:latin typeface="Noto Sans KR Medium"/>
              </a:rPr>
              <a:t> </a:t>
            </a:r>
            <a:r>
              <a:rPr sz="1650" b="0" i="0" u="none" dirty="0" err="1">
                <a:solidFill>
                  <a:srgbClr val="2563EB"/>
                </a:solidFill>
                <a:latin typeface="Noto Sans KR Medium"/>
              </a:rPr>
              <a:t>성장의</a:t>
            </a:r>
            <a:r>
              <a:rPr sz="1650" b="0" i="0" u="none" dirty="0">
                <a:solidFill>
                  <a:srgbClr val="2563EB"/>
                </a:solidFill>
                <a:latin typeface="Noto Sans KR Medium"/>
              </a:rPr>
              <a:t> </a:t>
            </a:r>
            <a:r>
              <a:rPr sz="1650" b="0" i="0" u="none" dirty="0" err="1">
                <a:solidFill>
                  <a:srgbClr val="2563EB"/>
                </a:solidFill>
                <a:latin typeface="Noto Sans KR Medium"/>
              </a:rPr>
              <a:t>동반자</a:t>
            </a:r>
            <a:endParaRPr sz="1650" b="0" i="0" u="none" dirty="0">
              <a:solidFill>
                <a:srgbClr val="2563EB"/>
              </a:solidFill>
              <a:latin typeface="Noto Sans KR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2481411"/>
            <a:ext cx="6807257" cy="1436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655"/>
              </a:lnSpc>
            </a:pPr>
            <a:r>
              <a:rPr sz="4350" b="0" i="0" u="none" dirty="0" err="1">
                <a:solidFill>
                  <a:srgbClr val="0F172A"/>
                </a:solidFill>
                <a:latin typeface="Noto Sans KR Black"/>
              </a:rPr>
              <a:t>고용노동부</a:t>
            </a:r>
            <a:r>
              <a:rPr sz="4350" b="0" i="0" u="none" dirty="0">
                <a:solidFill>
                  <a:srgbClr val="0F172A"/>
                </a:solidFill>
                <a:latin typeface="Noto Sans KR Black"/>
              </a:rPr>
              <a:t> </a:t>
            </a:r>
            <a:r>
              <a:rPr sz="4350" b="0" i="0" u="none" dirty="0" err="1">
                <a:solidFill>
                  <a:srgbClr val="0F172A"/>
                </a:solidFill>
                <a:latin typeface="Noto Sans KR Black"/>
              </a:rPr>
              <a:t>국민취업지원제도</a:t>
            </a:r>
            <a:r>
              <a:rPr dirty="0"/>
              <a:t>
</a:t>
            </a:r>
            <a:r>
              <a:rPr sz="4350" b="0" i="0" u="none" dirty="0" err="1">
                <a:solidFill>
                  <a:srgbClr val="2563EB"/>
                </a:solidFill>
                <a:latin typeface="Noto Sans KR Black"/>
              </a:rPr>
              <a:t>맞춤형</a:t>
            </a:r>
            <a:r>
              <a:rPr sz="4350" b="0" i="0" u="none" dirty="0">
                <a:solidFill>
                  <a:srgbClr val="2563EB"/>
                </a:solidFill>
                <a:latin typeface="Noto Sans KR Black"/>
              </a:rPr>
              <a:t> </a:t>
            </a:r>
            <a:r>
              <a:rPr sz="4350" b="0" i="0" u="none" dirty="0" err="1">
                <a:solidFill>
                  <a:srgbClr val="2563EB"/>
                </a:solidFill>
                <a:latin typeface="Noto Sans KR Black"/>
              </a:rPr>
              <a:t>홍보</a:t>
            </a:r>
            <a:r>
              <a:rPr sz="4350" b="0" i="0" u="none" dirty="0">
                <a:solidFill>
                  <a:srgbClr val="2563EB"/>
                </a:solidFill>
                <a:latin typeface="Noto Sans KR Black"/>
              </a:rPr>
              <a:t> </a:t>
            </a:r>
            <a:r>
              <a:rPr sz="4350" b="0" i="0" u="none" dirty="0" err="1">
                <a:solidFill>
                  <a:srgbClr val="2563EB"/>
                </a:solidFill>
                <a:latin typeface="Noto Sans KR Black"/>
              </a:rPr>
              <a:t>가이드</a:t>
            </a:r>
            <a:endParaRPr sz="4350" b="0" i="0" u="none" dirty="0">
              <a:solidFill>
                <a:srgbClr val="2563EB"/>
              </a:solidFill>
              <a:latin typeface="Noto Sans KR Black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4155727"/>
            <a:ext cx="5777345" cy="3051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i="0" u="none" dirty="0" err="1">
                <a:solidFill>
                  <a:srgbClr val="475569"/>
                </a:solidFill>
                <a:latin typeface="Noto Sans KR"/>
              </a:rPr>
              <a:t>수강생</a:t>
            </a:r>
            <a:r>
              <a:rPr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Noto Sans KR"/>
              </a:rPr>
              <a:t>취업에</a:t>
            </a:r>
            <a:r>
              <a:rPr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Noto Sans KR"/>
              </a:rPr>
              <a:t>앞장서는</a:t>
            </a:r>
            <a:r>
              <a:rPr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b="1" i="0" u="none" dirty="0">
                <a:solidFill>
                  <a:srgbClr val="475569"/>
                </a:solidFill>
                <a:latin typeface="Noto Sans KR"/>
              </a:rPr>
              <a:t>스탭스 </a:t>
            </a:r>
            <a:r>
              <a:rPr b="1" i="0" u="none" dirty="0" err="1">
                <a:solidFill>
                  <a:srgbClr val="475569"/>
                </a:solidFill>
                <a:latin typeface="Noto Sans KR"/>
              </a:rPr>
              <a:t>서울남부센터</a:t>
            </a:r>
            <a:r>
              <a:rPr b="0" i="0" u="none" dirty="0" err="1">
                <a:solidFill>
                  <a:srgbClr val="475569"/>
                </a:solidFill>
                <a:latin typeface="Noto Sans KR"/>
              </a:rPr>
              <a:t>와</a:t>
            </a:r>
            <a:r>
              <a:rPr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Noto Sans KR"/>
              </a:rPr>
              <a:t>함께하세요</a:t>
            </a:r>
            <a:r>
              <a:rPr b="0" i="0" u="none" dirty="0">
                <a:solidFill>
                  <a:srgbClr val="475569"/>
                </a:solidFill>
                <a:latin typeface="Noto Sans KR"/>
              </a:rPr>
              <a:t>!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2290911"/>
            <a:ext cx="38100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DCEF16-6943-0E31-52E4-02F166945A1F}"/>
              </a:ext>
            </a:extLst>
          </p:cNvPr>
          <p:cNvSpPr txBox="1"/>
          <p:nvPr/>
        </p:nvSpPr>
        <p:spPr>
          <a:xfrm>
            <a:off x="9648825" y="6381750"/>
            <a:ext cx="17811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Noto Sans KR"/>
              </a:rPr>
              <a:t>인재서비스 대표그룹 스탭스(주)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672655"/>
            <a:ext cx="4038600" cy="23754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229350"/>
            <a:ext cx="106680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6381750"/>
            <a:ext cx="52580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3A8A"/>
                </a:solidFill>
                <a:latin typeface="Noto Sans KR"/>
              </a:rPr>
              <a:t>STAFFS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8825" y="6381750"/>
            <a:ext cx="17811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Noto Sans KR"/>
              </a:rPr>
              <a:t>인재서비스 대표그룹 스탭스(주)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3158430"/>
            <a:ext cx="3257550" cy="88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930"/>
              </a:lnSpc>
            </a:pPr>
            <a:r>
              <a:rPr sz="6300" b="0" i="0" u="none">
                <a:solidFill>
                  <a:srgbClr val="E11D48"/>
                </a:solidFill>
                <a:latin typeface="Noto Sans KR Black"/>
              </a:rPr>
              <a:t>360만 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4181326"/>
            <a:ext cx="32575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E3A8A"/>
                </a:solidFill>
                <a:latin typeface="Noto Sans KR"/>
              </a:rPr>
              <a:t>적극 지원!!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72100" y="2747069"/>
            <a:ext cx="636079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2100" b="1" i="0" u="none">
                <a:solidFill>
                  <a:srgbClr val="0F172A"/>
                </a:solidFill>
                <a:latin typeface="Noto Sans KR"/>
              </a:rPr>
              <a:t>수강생이 체감하는 경제적 혜택!!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3358455"/>
            <a:ext cx="605790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575" b="0" i="0" u="none" dirty="0">
                <a:solidFill>
                  <a:srgbClr val="475569"/>
                </a:solidFill>
                <a:latin typeface="Noto Sans KR Medium"/>
              </a:rPr>
              <a:t>1유형 </a:t>
            </a:r>
            <a:r>
              <a:rPr sz="1575" b="0" i="0" u="none" dirty="0" err="1">
                <a:solidFill>
                  <a:srgbClr val="475569"/>
                </a:solidFill>
                <a:latin typeface="Noto Sans KR Medium"/>
              </a:rPr>
              <a:t>수강생은</a:t>
            </a:r>
            <a:r>
              <a:rPr sz="1575" b="0" i="0" u="none" dirty="0">
                <a:solidFill>
                  <a:srgbClr val="475569"/>
                </a:solidFill>
                <a:latin typeface="Noto Sans KR Medium"/>
              </a:rPr>
              <a:t> </a:t>
            </a:r>
            <a:r>
              <a:rPr sz="1575" b="0" i="0" u="none" dirty="0" err="1">
                <a:solidFill>
                  <a:srgbClr val="475569"/>
                </a:solidFill>
                <a:latin typeface="Noto Sans KR Medium"/>
              </a:rPr>
              <a:t>교육</a:t>
            </a:r>
            <a:r>
              <a:rPr sz="1575" b="0" i="0" u="none" dirty="0">
                <a:solidFill>
                  <a:srgbClr val="475569"/>
                </a:solidFill>
                <a:latin typeface="Noto Sans KR Medium"/>
              </a:rPr>
              <a:t> </a:t>
            </a:r>
            <a:r>
              <a:rPr sz="1575" b="0" i="0" u="none" dirty="0" err="1">
                <a:solidFill>
                  <a:srgbClr val="475569"/>
                </a:solidFill>
                <a:latin typeface="Noto Sans KR Medium"/>
              </a:rPr>
              <a:t>기간</a:t>
            </a:r>
            <a:r>
              <a:rPr sz="1575" b="0" i="0" u="none" dirty="0">
                <a:solidFill>
                  <a:srgbClr val="475569"/>
                </a:solidFill>
                <a:latin typeface="Noto Sans KR Medium"/>
              </a:rPr>
              <a:t> 중 </a:t>
            </a:r>
            <a:r>
              <a:rPr sz="1575" b="1" i="0" u="none" dirty="0" err="1">
                <a:solidFill>
                  <a:srgbClr val="E11D48"/>
                </a:solidFill>
                <a:latin typeface="Noto Sans KR"/>
              </a:rPr>
              <a:t>매월</a:t>
            </a:r>
            <a:r>
              <a:rPr sz="1575" b="1" i="0" u="none" dirty="0">
                <a:solidFill>
                  <a:srgbClr val="E11D48"/>
                </a:solidFill>
                <a:latin typeface="Noto Sans KR"/>
              </a:rPr>
              <a:t> 60만원</a:t>
            </a:r>
            <a:r>
              <a:rPr sz="1575" b="0" i="0" u="none" dirty="0">
                <a:solidFill>
                  <a:srgbClr val="475569"/>
                </a:solidFill>
                <a:latin typeface="Noto Sans KR Medium"/>
              </a:rPr>
              <a:t>을 </a:t>
            </a:r>
            <a:r>
              <a:rPr sz="1575" b="0" i="0" u="none" dirty="0" err="1">
                <a:solidFill>
                  <a:srgbClr val="475569"/>
                </a:solidFill>
                <a:latin typeface="Noto Sans KR Medium"/>
              </a:rPr>
              <a:t>수령합니다</a:t>
            </a:r>
            <a:r>
              <a:rPr sz="1575" b="0" i="0" u="none" dirty="0">
                <a:solidFill>
                  <a:srgbClr val="475569"/>
                </a:solidFill>
                <a:latin typeface="Noto Sans KR Medium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72100" y="3868935"/>
            <a:ext cx="6057900" cy="11049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57850" y="4097535"/>
            <a:ext cx="548640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sz="1500" b="0" i="0" u="none" dirty="0">
                <a:solidFill>
                  <a:srgbClr val="334155"/>
                </a:solidFill>
                <a:latin typeface="Noto Sans KR"/>
              </a:rPr>
              <a:t>"</a:t>
            </a:r>
            <a:r>
              <a:rPr sz="1500" b="0" i="0" u="none" dirty="0" err="1">
                <a:solidFill>
                  <a:srgbClr val="334155"/>
                </a:solidFill>
                <a:latin typeface="Noto Sans KR"/>
              </a:rPr>
              <a:t>아르바이트</a:t>
            </a:r>
            <a:r>
              <a:rPr sz="150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Noto Sans KR"/>
              </a:rPr>
              <a:t>대신</a:t>
            </a:r>
            <a:r>
              <a:rPr sz="150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Noto Sans KR"/>
              </a:rPr>
              <a:t>공부에</a:t>
            </a:r>
            <a:r>
              <a:rPr sz="150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Noto Sans KR"/>
              </a:rPr>
              <a:t>집중할</a:t>
            </a:r>
            <a:r>
              <a:rPr sz="1500" b="0" i="0" u="none" dirty="0">
                <a:solidFill>
                  <a:srgbClr val="334155"/>
                </a:solidFill>
                <a:latin typeface="Noto Sans KR"/>
              </a:rPr>
              <a:t> 수 </a:t>
            </a:r>
            <a:r>
              <a:rPr sz="1500" b="0" i="0" u="none" dirty="0" err="1">
                <a:solidFill>
                  <a:srgbClr val="334155"/>
                </a:solidFill>
                <a:latin typeface="Noto Sans KR"/>
              </a:rPr>
              <a:t>있는</a:t>
            </a:r>
            <a:r>
              <a:rPr sz="150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Noto Sans KR"/>
              </a:rPr>
              <a:t>환경"은</a:t>
            </a:r>
            <a:r>
              <a:rPr sz="150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Noto Sans KR"/>
              </a:rPr>
              <a:t>수강생에게</a:t>
            </a:r>
            <a:r>
              <a:rPr sz="1500" b="0" i="0" u="none" dirty="0">
                <a:solidFill>
                  <a:srgbClr val="334155"/>
                </a:solidFill>
                <a:latin typeface="Noto Sans KR"/>
              </a:rPr>
              <a:t> </a:t>
            </a:r>
            <a:endParaRPr lang="en-US" sz="1500" b="0" i="0" u="none" dirty="0">
              <a:solidFill>
                <a:srgbClr val="334155"/>
              </a:solidFill>
              <a:latin typeface="Noto Sans KR"/>
            </a:endParaRPr>
          </a:p>
          <a:p>
            <a:pPr algn="l">
              <a:lnSpc>
                <a:spcPts val="2550"/>
              </a:lnSpc>
            </a:pPr>
            <a:r>
              <a:rPr sz="1500" b="0" i="0" u="none" dirty="0" err="1">
                <a:solidFill>
                  <a:srgbClr val="334155"/>
                </a:solidFill>
                <a:latin typeface="Noto Sans KR"/>
              </a:rPr>
              <a:t>가장</a:t>
            </a:r>
            <a:r>
              <a:rPr sz="150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Noto Sans KR"/>
              </a:rPr>
              <a:t>강력한</a:t>
            </a:r>
            <a:r>
              <a:rPr sz="150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Noto Sans KR"/>
              </a:rPr>
              <a:t>무기입니다</a:t>
            </a:r>
            <a:r>
              <a:rPr sz="1500" b="0" i="0" u="none" dirty="0">
                <a:solidFill>
                  <a:srgbClr val="334155"/>
                </a:solidFill>
                <a:latin typeface="Noto Sans KR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72100" y="3868935"/>
            <a:ext cx="47625" cy="11049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2000" y="571500"/>
            <a:ext cx="11201400" cy="434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420"/>
              </a:lnSpc>
            </a:pPr>
            <a:r>
              <a:rPr sz="2850" b="1" i="0" u="none">
                <a:solidFill>
                  <a:srgbClr val="0F172A"/>
                </a:solidFill>
                <a:latin typeface="Noto Sans KR"/>
              </a:rPr>
              <a:t>수강생 유입의 결정적 한 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1005780"/>
            <a:ext cx="57150" cy="3429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229350"/>
            <a:ext cx="10668000" cy="3429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897317"/>
              </p:ext>
            </p:extLst>
          </p:nvPr>
        </p:nvGraphicFramePr>
        <p:xfrm>
          <a:off x="762000" y="2526059"/>
          <a:ext cx="10648948" cy="2124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9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1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803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8025"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대상 구분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연령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소득 요건 (가구단위)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재산 요건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지원 내용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025">
                <a:tc>
                  <a:txBody>
                    <a:bodyPr/>
                    <a:lstStyle/>
                    <a:p>
                      <a:pPr algn="ctr"/>
                      <a:r>
                        <a:rPr sz="1350" b="1" i="0" u="none" dirty="0" err="1">
                          <a:solidFill>
                            <a:schemeClr val="tx1"/>
                          </a:solidFill>
                          <a:latin typeface="Noto Sans KR"/>
                        </a:rPr>
                        <a:t>청년층</a:t>
                      </a:r>
                      <a:endParaRPr sz="1350" b="1" i="0" u="none" dirty="0">
                        <a:solidFill>
                          <a:schemeClr val="tx1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334155"/>
                          </a:solidFill>
                          <a:latin typeface="Noto Sans KR Medium"/>
                        </a:rPr>
                        <a:t>만 15~34세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334155"/>
                          </a:solidFill>
                          <a:latin typeface="Noto Sans KR Medium"/>
                        </a:rPr>
                        <a:t>중위소득 120% 이하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334155"/>
                          </a:solidFill>
                          <a:latin typeface="Noto Sans KR Medium"/>
                        </a:rPr>
                        <a:t>5억 원 이하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 i="0" u="none" dirty="0" err="1">
                          <a:solidFill>
                            <a:srgbClr val="E11D48"/>
                          </a:solidFill>
                          <a:latin typeface="Noto Sans KR"/>
                        </a:rPr>
                        <a:t>구직촉진수당</a:t>
                      </a:r>
                      <a:r>
                        <a:rPr dirty="0"/>
                        <a:t>
</a:t>
                      </a:r>
                      <a:r>
                        <a:rPr sz="1350" b="1" i="0" u="none" dirty="0">
                          <a:solidFill>
                            <a:srgbClr val="E11D48"/>
                          </a:solidFill>
                          <a:latin typeface="Noto Sans KR"/>
                        </a:rPr>
                        <a:t>월 60만원 X 6개월</a:t>
                      </a:r>
                      <a:r>
                        <a:rPr dirty="0"/>
                        <a:t>
</a:t>
                      </a:r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Noto Sans KR"/>
                        </a:rPr>
                        <a:t>(</a:t>
                      </a:r>
                      <a:r>
                        <a:rPr sz="1350" b="0" i="0" u="none" dirty="0" err="1">
                          <a:solidFill>
                            <a:srgbClr val="475569"/>
                          </a:solidFill>
                          <a:latin typeface="Noto Sans KR"/>
                        </a:rPr>
                        <a:t>부양가족</a:t>
                      </a:r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Noto Sans KR"/>
                        </a:rPr>
                        <a:t> 1인당 10만원 </a:t>
                      </a:r>
                      <a:r>
                        <a:rPr sz="1350" b="0" i="0" u="none" dirty="0" err="1">
                          <a:solidFill>
                            <a:srgbClr val="475569"/>
                          </a:solidFill>
                          <a:latin typeface="Noto Sans KR"/>
                        </a:rPr>
                        <a:t>추가</a:t>
                      </a:r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Noto Sans KR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025">
                <a:tc>
                  <a:txBody>
                    <a:bodyPr/>
                    <a:lstStyle/>
                    <a:p>
                      <a:pPr algn="ctr"/>
                      <a:r>
                        <a:rPr sz="1350" b="1" i="0" u="none" dirty="0" err="1">
                          <a:solidFill>
                            <a:srgbClr val="0F172A"/>
                          </a:solidFill>
                          <a:latin typeface="Noto Sans KR"/>
                        </a:rPr>
                        <a:t>중장년</a:t>
                      </a:r>
                      <a:r>
                        <a:rPr lang="ko-KR" altLang="en-US" sz="1350" b="1" i="0" u="none" dirty="0">
                          <a:solidFill>
                            <a:srgbClr val="0F172A"/>
                          </a:solidFill>
                          <a:latin typeface="Noto Sans KR"/>
                        </a:rPr>
                        <a:t>층</a:t>
                      </a:r>
                      <a:endParaRPr sz="1350" b="1" i="0" u="none" dirty="0">
                        <a:solidFill>
                          <a:srgbClr val="0F172A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334155"/>
                          </a:solidFill>
                          <a:latin typeface="Noto Sans KR Medium"/>
                        </a:rPr>
                        <a:t>만 35~69세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334155"/>
                          </a:solidFill>
                          <a:latin typeface="Noto Sans KR Medium"/>
                        </a:rPr>
                        <a:t>중위소득 60% 이하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Noto Sans KR Medium"/>
                        </a:rPr>
                        <a:t>4억 원 </a:t>
                      </a:r>
                      <a:r>
                        <a:rPr sz="1350" b="0" i="0" u="none" dirty="0" err="1">
                          <a:solidFill>
                            <a:srgbClr val="334155"/>
                          </a:solidFill>
                          <a:latin typeface="Noto Sans KR Medium"/>
                        </a:rPr>
                        <a:t>이하</a:t>
                      </a:r>
                      <a:endParaRPr sz="1350" b="0" i="0" u="none" dirty="0">
                        <a:solidFill>
                          <a:srgbClr val="334155"/>
                        </a:solidFill>
                        <a:latin typeface="Noto Sans KR Medium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2000" y="4935884"/>
            <a:ext cx="10668000" cy="258960"/>
          </a:xfrm>
          <a:prstGeom prst="rect">
            <a:avLst/>
          </a:prstGeom>
          <a:noFill/>
        </p:spPr>
        <p:txBody>
          <a:bodyPr wrap="square" lIns="217586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64748B"/>
                </a:solidFill>
                <a:latin typeface="Noto Sans KR Medium"/>
              </a:rPr>
              <a:t>청년층은 소득 및 재산 요건이 완화되어 더 넓은 층이 혜택을 받을 수 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381750"/>
            <a:ext cx="52580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3A8A"/>
                </a:solidFill>
                <a:latin typeface="Noto Sans KR"/>
              </a:rPr>
              <a:t>STAFFS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8825" y="6381750"/>
            <a:ext cx="17811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Noto Sans KR"/>
              </a:rPr>
              <a:t>인재서비스 대표그룹 스탭스(주)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1525" y="3202334"/>
            <a:ext cx="2549574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21099" y="3202334"/>
            <a:ext cx="1529655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50755" y="3202334"/>
            <a:ext cx="2371576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222331" y="3202334"/>
            <a:ext cx="1517749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740080" y="3202334"/>
            <a:ext cx="2680394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993034"/>
            <a:ext cx="160436" cy="16192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525" y="3926234"/>
            <a:ext cx="25495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21099" y="3926234"/>
            <a:ext cx="15296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50755" y="3926234"/>
            <a:ext cx="23715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222331" y="3926234"/>
            <a:ext cx="15177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740080" y="4631084"/>
            <a:ext cx="26803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2000" y="571500"/>
            <a:ext cx="11201400" cy="434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420"/>
              </a:lnSpc>
            </a:pPr>
            <a:r>
              <a:rPr sz="2850" b="1" i="0" u="none" dirty="0">
                <a:solidFill>
                  <a:srgbClr val="0F172A"/>
                </a:solidFill>
                <a:latin typeface="Noto Sans KR"/>
              </a:rPr>
              <a:t>1유형 </a:t>
            </a:r>
            <a:r>
              <a:rPr sz="2850" b="1" i="0" u="none" dirty="0" err="1">
                <a:solidFill>
                  <a:srgbClr val="0F172A"/>
                </a:solidFill>
                <a:latin typeface="Noto Sans KR"/>
              </a:rPr>
              <a:t>연령별</a:t>
            </a:r>
            <a:r>
              <a:rPr sz="285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2850" b="1" i="0" u="none" dirty="0" err="1">
                <a:solidFill>
                  <a:srgbClr val="0F172A"/>
                </a:solidFill>
                <a:latin typeface="Noto Sans KR"/>
              </a:rPr>
              <a:t>자격</a:t>
            </a:r>
            <a:r>
              <a:rPr sz="285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2850" b="1" i="0" u="none" dirty="0" err="1">
                <a:solidFill>
                  <a:srgbClr val="0F172A"/>
                </a:solidFill>
                <a:latin typeface="Noto Sans KR"/>
              </a:rPr>
              <a:t>요건</a:t>
            </a:r>
            <a:endParaRPr sz="2850" b="1" i="0" u="none" dirty="0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62000" y="1005780"/>
            <a:ext cx="57150" cy="3429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34405"/>
            <a:ext cx="5143500" cy="485209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434405"/>
            <a:ext cx="5143500" cy="485209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229350"/>
            <a:ext cx="1066800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381750"/>
            <a:ext cx="52580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3A8A"/>
                </a:solidFill>
                <a:latin typeface="Noto Sans KR"/>
              </a:rPr>
              <a:t>STAFFS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8825" y="6381750"/>
            <a:ext cx="17811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Noto Sans KR"/>
              </a:rPr>
              <a:t>인재서비스 대표그룹 스탭스(주)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1872555"/>
            <a:ext cx="4580572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50" b="1" i="0" u="none">
                <a:solidFill>
                  <a:srgbClr val="2563EB"/>
                </a:solidFill>
                <a:latin typeface="Noto Sans KR"/>
              </a:rPr>
              <a:t>청년층 (만 15~34세)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2415480"/>
            <a:ext cx="4362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64748B"/>
                </a:solidFill>
                <a:latin typeface="Noto Sans KR Medium"/>
              </a:rPr>
              <a:t>소득</a:t>
            </a:r>
            <a:r>
              <a:rPr sz="1350" b="0" i="0" u="none" dirty="0">
                <a:solidFill>
                  <a:srgbClr val="64748B"/>
                </a:solidFill>
                <a:latin typeface="Noto Sans KR Medium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Noto Sans KR Medium"/>
              </a:rPr>
              <a:t>조건</a:t>
            </a:r>
            <a:r>
              <a:rPr sz="1350" b="0" i="0" u="none" dirty="0">
                <a:solidFill>
                  <a:srgbClr val="64748B"/>
                </a:solidFill>
                <a:latin typeface="Noto Sans KR Medium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Noto Sans KR Medium"/>
              </a:rPr>
              <a:t>무관</a:t>
            </a:r>
            <a:r>
              <a:rPr sz="1350" b="0" i="0" u="none" dirty="0">
                <a:solidFill>
                  <a:srgbClr val="64748B"/>
                </a:solidFill>
                <a:latin typeface="Noto Sans KR Medium"/>
              </a:rPr>
              <a:t>! </a:t>
            </a:r>
            <a:r>
              <a:rPr sz="1350" b="0" i="0" u="none" dirty="0" err="1">
                <a:solidFill>
                  <a:srgbClr val="64748B"/>
                </a:solidFill>
                <a:latin typeface="Noto Sans KR Medium"/>
              </a:rPr>
              <a:t>학원</a:t>
            </a:r>
            <a:r>
              <a:rPr sz="1350" b="0" i="0" u="none" dirty="0">
                <a:solidFill>
                  <a:srgbClr val="64748B"/>
                </a:solidFill>
                <a:latin typeface="Noto Sans KR Medium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Noto Sans KR Medium"/>
              </a:rPr>
              <a:t>수강을</a:t>
            </a:r>
            <a:r>
              <a:rPr sz="1350" b="0" i="0" u="none" dirty="0">
                <a:solidFill>
                  <a:srgbClr val="64748B"/>
                </a:solidFill>
                <a:latin typeface="Noto Sans KR Medium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Noto Sans KR Medium"/>
              </a:rPr>
              <a:t>원하는</a:t>
            </a:r>
            <a:r>
              <a:rPr sz="1350" b="0" i="0" u="none" dirty="0">
                <a:solidFill>
                  <a:srgbClr val="64748B"/>
                </a:solidFill>
                <a:latin typeface="Noto Sans KR Medium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Noto Sans KR Medium"/>
              </a:rPr>
              <a:t>거의</a:t>
            </a:r>
            <a:r>
              <a:rPr sz="1350" b="0" i="0" u="none" dirty="0">
                <a:solidFill>
                  <a:srgbClr val="64748B"/>
                </a:solidFill>
                <a:latin typeface="Noto Sans KR Medium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Noto Sans KR Medium"/>
              </a:rPr>
              <a:t>모든</a:t>
            </a:r>
            <a:r>
              <a:rPr sz="1350" b="0" i="0" u="none" dirty="0">
                <a:solidFill>
                  <a:srgbClr val="64748B"/>
                </a:solidFill>
                <a:latin typeface="Noto Sans KR Medium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Noto Sans KR Medium"/>
              </a:rPr>
              <a:t>청년이</a:t>
            </a:r>
            <a:r>
              <a:rPr sz="1350" b="0" i="0" u="none" dirty="0">
                <a:solidFill>
                  <a:srgbClr val="64748B"/>
                </a:solidFill>
                <a:latin typeface="Noto Sans KR Medium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Noto Sans KR Medium"/>
              </a:rPr>
              <a:t>참여</a:t>
            </a:r>
            <a:r>
              <a:rPr sz="1350" b="0" i="0" u="none" dirty="0">
                <a:solidFill>
                  <a:srgbClr val="64748B"/>
                </a:solidFill>
                <a:latin typeface="Noto Sans KR Medium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Noto Sans KR Medium"/>
              </a:rPr>
              <a:t>가능합니다</a:t>
            </a:r>
            <a:r>
              <a:rPr sz="1350" b="0" i="0" u="none" dirty="0">
                <a:solidFill>
                  <a:srgbClr val="64748B"/>
                </a:solidFill>
                <a:latin typeface="Noto Sans KR Medium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1872555"/>
            <a:ext cx="4580572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50" b="1" i="0" u="none">
                <a:solidFill>
                  <a:srgbClr val="10B981"/>
                </a:solidFill>
                <a:latin typeface="Noto Sans KR"/>
              </a:rPr>
              <a:t>중장년층 (만 35~69세)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415480"/>
            <a:ext cx="4362450" cy="4901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ko-KR" altLang="en-US" sz="1350" dirty="0">
                <a:solidFill>
                  <a:srgbClr val="64748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중위소득 </a:t>
            </a:r>
            <a:r>
              <a:rPr lang="en-US" altLang="ko-KR" sz="1350" dirty="0">
                <a:solidFill>
                  <a:srgbClr val="64748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100% </a:t>
            </a:r>
            <a:r>
              <a:rPr lang="ko-KR" altLang="en-US" sz="1350" dirty="0">
                <a:solidFill>
                  <a:srgbClr val="64748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이하</a:t>
            </a:r>
            <a:r>
              <a:rPr lang="en-US" altLang="ko-KR" sz="1350" dirty="0">
                <a:solidFill>
                  <a:srgbClr val="64748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! </a:t>
            </a:r>
            <a:r>
              <a:rPr lang="ko-KR" altLang="en-US" sz="1350" b="0" i="0" u="none" dirty="0">
                <a:solidFill>
                  <a:srgbClr val="64748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재취업을 희망하는 가장 핵심적인 교육 대상자입니다</a:t>
            </a:r>
            <a:r>
              <a:rPr lang="en-US" altLang="ko-KR" sz="1350" b="0" i="0" u="none" dirty="0">
                <a:solidFill>
                  <a:srgbClr val="64748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9225" y="3112539"/>
            <a:ext cx="4095750" cy="2529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참여수당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1" i="0" u="none" dirty="0">
                <a:solidFill>
                  <a:srgbClr val="334155"/>
                </a:solidFill>
                <a:latin typeface="Noto Sans KR"/>
              </a:rPr>
              <a:t>15~25만원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지급</a:t>
            </a:r>
            <a:endParaRPr sz="1350" b="0" i="0" u="none" dirty="0">
              <a:solidFill>
                <a:srgbClr val="334155"/>
              </a:solidFill>
              <a:latin typeface="Noto Sans K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19225" y="3871455"/>
            <a:ext cx="4095750" cy="25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빈일자리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청년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특화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사업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연계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(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취업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후 6개월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근속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시)</a:t>
            </a:r>
            <a:endParaRPr lang="en-US" sz="1350" b="0" i="0" u="none" dirty="0">
              <a:solidFill>
                <a:srgbClr val="334155"/>
              </a:solidFill>
              <a:latin typeface="Noto Sans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571500"/>
            <a:ext cx="11201400" cy="434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420"/>
              </a:lnSpc>
            </a:pPr>
            <a:r>
              <a:rPr sz="2850" b="1" i="0" u="none" dirty="0">
                <a:solidFill>
                  <a:srgbClr val="0F172A"/>
                </a:solidFill>
                <a:latin typeface="Noto Sans KR"/>
              </a:rPr>
              <a:t>2유형</a:t>
            </a:r>
            <a:r>
              <a:rPr lang="en-US" sz="285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2850" b="1" i="0" u="none" dirty="0">
                <a:solidFill>
                  <a:srgbClr val="0F172A"/>
                </a:solidFill>
                <a:latin typeface="Noto Sans KR"/>
              </a:rPr>
              <a:t>: </a:t>
            </a:r>
            <a:r>
              <a:rPr sz="2850" b="1" i="0" u="none" dirty="0" err="1">
                <a:solidFill>
                  <a:srgbClr val="0F172A"/>
                </a:solidFill>
                <a:latin typeface="Noto Sans KR"/>
              </a:rPr>
              <a:t>모든</a:t>
            </a:r>
            <a:r>
              <a:rPr sz="285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2850" b="1" i="0" u="none" dirty="0" err="1">
                <a:solidFill>
                  <a:srgbClr val="0F172A"/>
                </a:solidFill>
                <a:latin typeface="Noto Sans KR"/>
              </a:rPr>
              <a:t>구직자를</a:t>
            </a:r>
            <a:r>
              <a:rPr sz="285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2850" b="1" i="0" u="none" dirty="0" err="1">
                <a:solidFill>
                  <a:srgbClr val="0F172A"/>
                </a:solidFill>
                <a:latin typeface="Noto Sans KR"/>
              </a:rPr>
              <a:t>위한</a:t>
            </a:r>
            <a:r>
              <a:rPr sz="285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2850" b="1" i="0" u="none" dirty="0" err="1">
                <a:solidFill>
                  <a:srgbClr val="0F172A"/>
                </a:solidFill>
                <a:latin typeface="Noto Sans KR"/>
              </a:rPr>
              <a:t>폭넓은</a:t>
            </a:r>
            <a:r>
              <a:rPr sz="285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2850" b="1" i="0" u="none" dirty="0" err="1">
                <a:solidFill>
                  <a:srgbClr val="0F172A"/>
                </a:solidFill>
                <a:latin typeface="Noto Sans KR"/>
              </a:rPr>
              <a:t>지원</a:t>
            </a:r>
            <a:endParaRPr sz="2850" b="1" i="0" u="none" dirty="0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62000" y="1005780"/>
            <a:ext cx="57150" cy="3429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525" y="3167955"/>
            <a:ext cx="17145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525" y="3917635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7025" y="3167955"/>
            <a:ext cx="171450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7025" y="3585120"/>
            <a:ext cx="171450" cy="18097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AAE61D7-6300-3676-C437-1FD3067F0593}"/>
              </a:ext>
            </a:extLst>
          </p:cNvPr>
          <p:cNvSpPr txBox="1"/>
          <p:nvPr/>
        </p:nvSpPr>
        <p:spPr>
          <a:xfrm>
            <a:off x="1498889" y="4210070"/>
            <a:ext cx="4095750" cy="2529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 err="1">
                <a:solidFill>
                  <a:srgbClr val="334155"/>
                </a:solidFill>
                <a:latin typeface="Noto Sans KR"/>
              </a:rPr>
              <a:t>훈련참여수당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: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훈련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일수에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따라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매월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20만원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지급</a:t>
            </a:r>
            <a:endParaRPr sz="1350" b="0" i="0" u="none" dirty="0">
              <a:solidFill>
                <a:srgbClr val="334155"/>
              </a:solidFill>
              <a:latin typeface="Noto Sans K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5273B5-34D4-B463-9A57-47FE744DF464}"/>
              </a:ext>
            </a:extLst>
          </p:cNvPr>
          <p:cNvSpPr txBox="1"/>
          <p:nvPr/>
        </p:nvSpPr>
        <p:spPr>
          <a:xfrm>
            <a:off x="1498889" y="4570085"/>
            <a:ext cx="4095750" cy="2529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 err="1">
                <a:solidFill>
                  <a:srgbClr val="334155"/>
                </a:solidFill>
                <a:latin typeface="Noto Sans KR"/>
              </a:rPr>
              <a:t>취업성공수당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: 40만원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추가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지급</a:t>
            </a:r>
            <a:endParaRPr sz="1350" b="0" i="0" u="none" dirty="0">
              <a:solidFill>
                <a:srgbClr val="334155"/>
              </a:solidFill>
              <a:latin typeface="Noto Sans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E0B51F-6920-9B05-4CE4-55AC6F5DD855}"/>
              </a:ext>
            </a:extLst>
          </p:cNvPr>
          <p:cNvSpPr txBox="1"/>
          <p:nvPr/>
        </p:nvSpPr>
        <p:spPr>
          <a:xfrm>
            <a:off x="6943725" y="3107297"/>
            <a:ext cx="4095750" cy="2529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참여수당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1" i="0" u="none" dirty="0">
                <a:solidFill>
                  <a:srgbClr val="334155"/>
                </a:solidFill>
                <a:latin typeface="Noto Sans KR"/>
              </a:rPr>
              <a:t>15~25만원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지급</a:t>
            </a:r>
            <a:endParaRPr sz="1350" b="0" i="0" u="none" dirty="0">
              <a:solidFill>
                <a:srgbClr val="334155"/>
              </a:solidFill>
              <a:latin typeface="Noto Sans K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8CE042-B05D-FFDC-7F82-B50B46B27B84}"/>
              </a:ext>
            </a:extLst>
          </p:cNvPr>
          <p:cNvSpPr txBox="1"/>
          <p:nvPr/>
        </p:nvSpPr>
        <p:spPr>
          <a:xfrm>
            <a:off x="6943725" y="3527306"/>
            <a:ext cx="4362450" cy="252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참여</a:t>
            </a:r>
            <a:r>
              <a:rPr lang="ko-KR" altLang="en-US" sz="1350" b="0" i="0" u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장려</a:t>
            </a:r>
            <a:r>
              <a:rPr sz="1350" b="0" i="0" u="none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수당</a:t>
            </a:r>
            <a:r>
              <a:rPr sz="1350" b="0" i="0" u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개월에 한 번 방문 시</a:t>
            </a:r>
            <a:r>
              <a:rPr lang="en-US" altLang="ko-KR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2</a:t>
            </a:r>
            <a:r>
              <a:rPr lang="ko-KR" altLang="en-US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만원</a:t>
            </a:r>
            <a:r>
              <a:rPr lang="en-US" altLang="ko-KR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35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최대  </a:t>
            </a:r>
            <a:r>
              <a:rPr lang="en-US" altLang="ko-KR" sz="135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135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만원</a:t>
            </a:r>
            <a:r>
              <a:rPr lang="en-US" altLang="ko-KR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sz="1350" b="0" i="0" u="none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EFEDDD-C4F4-1884-2A61-63966056C675}"/>
              </a:ext>
            </a:extLst>
          </p:cNvPr>
          <p:cNvSpPr txBox="1"/>
          <p:nvPr/>
        </p:nvSpPr>
        <p:spPr>
          <a:xfrm>
            <a:off x="1419225" y="3494098"/>
            <a:ext cx="4362450" cy="252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참여</a:t>
            </a:r>
            <a:r>
              <a:rPr lang="ko-KR" altLang="en-US" sz="1350" b="0" i="0" u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장려</a:t>
            </a:r>
            <a:r>
              <a:rPr sz="1350" b="0" i="0" u="none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수당</a:t>
            </a:r>
            <a:r>
              <a:rPr sz="1350" b="0" i="0" u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개월에 한 번 방문 시</a:t>
            </a:r>
            <a:r>
              <a:rPr lang="en-US" altLang="ko-KR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2</a:t>
            </a:r>
            <a:r>
              <a:rPr lang="ko-KR" altLang="en-US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만원</a:t>
            </a:r>
            <a:r>
              <a:rPr lang="en-US" altLang="ko-KR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35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최대  </a:t>
            </a:r>
            <a:r>
              <a:rPr lang="en-US" altLang="ko-KR" sz="135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135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만원</a:t>
            </a:r>
            <a:r>
              <a:rPr lang="en-US" altLang="ko-KR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sz="1350" b="0" i="0" u="none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9" name="Picture 17" descr="image.png">
            <a:extLst>
              <a:ext uri="{FF2B5EF4-FFF2-40B4-BE49-F238E27FC236}">
                <a16:creationId xmlns:a16="http://schemas.microsoft.com/office/drawing/2014/main" id="{626EBE63-EF48-0E5F-70CD-1FB535D8F9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238" y="3541396"/>
            <a:ext cx="171450" cy="18097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D9B749B-2FA4-9FC8-1482-CBB0B5A7816B}"/>
              </a:ext>
            </a:extLst>
          </p:cNvPr>
          <p:cNvSpPr txBox="1"/>
          <p:nvPr/>
        </p:nvSpPr>
        <p:spPr>
          <a:xfrm>
            <a:off x="1370646" y="4941408"/>
            <a:ext cx="4534853" cy="535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ko-KR" altLang="en-US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취업성공수당</a:t>
            </a:r>
            <a:r>
              <a:rPr lang="en-US" altLang="ko-KR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6</a:t>
            </a:r>
            <a:r>
              <a:rPr lang="ko-KR" altLang="en-US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개월 근속 시 </a:t>
            </a:r>
            <a:r>
              <a:rPr lang="en-US" altLang="ko-KR" sz="135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50</a:t>
            </a:r>
            <a:r>
              <a:rPr lang="ko-KR" altLang="en-US" sz="135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만원 </a:t>
            </a:r>
            <a:r>
              <a:rPr lang="en-US" altLang="ko-KR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 근속 시 </a:t>
            </a:r>
            <a:r>
              <a:rPr lang="en-US" altLang="ko-KR" sz="135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100</a:t>
            </a:r>
            <a:r>
              <a:rPr lang="ko-KR" altLang="en-US" sz="135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만원</a:t>
            </a:r>
            <a:r>
              <a:rPr lang="ko-KR" altLang="en-US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지급 </a:t>
            </a:r>
            <a:r>
              <a:rPr lang="en-US" altLang="ko-KR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중위소득 </a:t>
            </a:r>
            <a:r>
              <a:rPr lang="en-US" altLang="ko-KR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60%/</a:t>
            </a:r>
            <a:r>
              <a:rPr lang="ko-KR" altLang="en-US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특정계층</a:t>
            </a:r>
            <a:r>
              <a:rPr lang="en-US" altLang="ko-KR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sz="1350" b="0" i="0" u="none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3" name="Picture 20" descr="image.png">
            <a:extLst>
              <a:ext uri="{FF2B5EF4-FFF2-40B4-BE49-F238E27FC236}">
                <a16:creationId xmlns:a16="http://schemas.microsoft.com/office/drawing/2014/main" id="{A5BA6D23-F931-1DBB-2EAC-74394A48FF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1646" y="3977663"/>
            <a:ext cx="171450" cy="180975"/>
          </a:xfrm>
          <a:prstGeom prst="rect">
            <a:avLst/>
          </a:prstGeom>
        </p:spPr>
      </p:pic>
      <p:pic>
        <p:nvPicPr>
          <p:cNvPr id="34" name="Picture 18" descr="image.png">
            <a:extLst>
              <a:ext uri="{FF2B5EF4-FFF2-40B4-BE49-F238E27FC236}">
                <a16:creationId xmlns:a16="http://schemas.microsoft.com/office/drawing/2014/main" id="{996B3E73-94A2-2E7D-28DC-DDD5ABD8BF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199" y="4984437"/>
            <a:ext cx="171450" cy="18097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B312AB4-32EB-F351-7253-F31E60C9B66A}"/>
              </a:ext>
            </a:extLst>
          </p:cNvPr>
          <p:cNvSpPr txBox="1"/>
          <p:nvPr/>
        </p:nvSpPr>
        <p:spPr>
          <a:xfrm>
            <a:off x="6943725" y="3940607"/>
            <a:ext cx="4534853" cy="535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ko-KR" altLang="en-US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취업성공수당</a:t>
            </a:r>
            <a:r>
              <a:rPr lang="en-US" altLang="ko-KR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6</a:t>
            </a:r>
            <a:r>
              <a:rPr lang="ko-KR" altLang="en-US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개월 근속 시 </a:t>
            </a:r>
            <a:r>
              <a:rPr lang="en-US" altLang="ko-KR" sz="135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50</a:t>
            </a:r>
            <a:r>
              <a:rPr lang="ko-KR" altLang="en-US" sz="135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만원 </a:t>
            </a:r>
            <a:r>
              <a:rPr lang="en-US" altLang="ko-KR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 근속 시 </a:t>
            </a:r>
            <a:r>
              <a:rPr lang="en-US" altLang="ko-KR" sz="135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100</a:t>
            </a:r>
            <a:r>
              <a:rPr lang="ko-KR" altLang="en-US" sz="135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만원</a:t>
            </a:r>
            <a:r>
              <a:rPr lang="ko-KR" altLang="en-US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지급 </a:t>
            </a:r>
            <a:r>
              <a:rPr lang="en-US" altLang="ko-KR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특정계층</a:t>
            </a:r>
            <a:r>
              <a:rPr lang="en-US" altLang="ko-KR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3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sz="1350" b="0" i="0" u="none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229350"/>
            <a:ext cx="106680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6381750"/>
            <a:ext cx="52580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3A8A"/>
                </a:solidFill>
                <a:latin typeface="Noto Sans KR"/>
              </a:rPr>
              <a:t>STAFFS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8825" y="6381750"/>
            <a:ext cx="17811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Noto Sans KR"/>
              </a:rPr>
              <a:t>인재서비스 대표그룹 스탭스(주)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789039"/>
            <a:ext cx="5885735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1" i="0" u="none" dirty="0" err="1">
                <a:solidFill>
                  <a:srgbClr val="0F172A"/>
                </a:solidFill>
                <a:latin typeface="Noto Sans KR"/>
              </a:rPr>
              <a:t>학원에서</a:t>
            </a:r>
            <a:r>
              <a:rPr sz="180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800" b="1" i="0" u="none" dirty="0" err="1">
                <a:solidFill>
                  <a:srgbClr val="0F172A"/>
                </a:solidFill>
                <a:latin typeface="Noto Sans KR"/>
              </a:rPr>
              <a:t>배운</a:t>
            </a:r>
            <a:r>
              <a:rPr sz="180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800" b="1" i="0" u="none" dirty="0" err="1">
                <a:solidFill>
                  <a:srgbClr val="0F172A"/>
                </a:solidFill>
                <a:latin typeface="Noto Sans KR"/>
              </a:rPr>
              <a:t>기술을</a:t>
            </a:r>
            <a:r>
              <a:rPr sz="180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800" b="1" i="0" u="none" dirty="0" err="1">
                <a:solidFill>
                  <a:srgbClr val="0F172A"/>
                </a:solidFill>
                <a:latin typeface="Noto Sans KR"/>
              </a:rPr>
              <a:t>현장에서</a:t>
            </a:r>
            <a:r>
              <a:rPr sz="180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800" b="1" i="0" u="none" dirty="0" err="1">
                <a:solidFill>
                  <a:srgbClr val="0F172A"/>
                </a:solidFill>
                <a:latin typeface="Noto Sans KR"/>
              </a:rPr>
              <a:t>직접</a:t>
            </a:r>
            <a:r>
              <a:rPr sz="180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800" b="1" i="0" u="none" dirty="0" err="1">
                <a:solidFill>
                  <a:srgbClr val="0F172A"/>
                </a:solidFill>
                <a:latin typeface="Noto Sans KR"/>
              </a:rPr>
              <a:t>써볼</a:t>
            </a:r>
            <a:r>
              <a:rPr sz="1800" b="1" i="0" u="none" dirty="0">
                <a:solidFill>
                  <a:srgbClr val="0F172A"/>
                </a:solidFill>
                <a:latin typeface="Noto Sans KR"/>
              </a:rPr>
              <a:t> 수 </a:t>
            </a:r>
            <a:r>
              <a:rPr sz="1800" b="1" i="0" u="none" dirty="0" err="1">
                <a:solidFill>
                  <a:srgbClr val="0F172A"/>
                </a:solidFill>
                <a:latin typeface="Noto Sans KR"/>
              </a:rPr>
              <a:t>있는</a:t>
            </a:r>
            <a:r>
              <a:rPr sz="180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800" b="1" i="0" u="none" dirty="0" err="1">
                <a:solidFill>
                  <a:srgbClr val="0F172A"/>
                </a:solidFill>
                <a:latin typeface="Noto Sans KR"/>
              </a:rPr>
              <a:t>기회입니다</a:t>
            </a:r>
            <a:r>
              <a:rPr sz="1800" b="1" i="0" u="none" dirty="0">
                <a:solidFill>
                  <a:srgbClr val="0F172A"/>
                </a:solidFill>
                <a:latin typeface="Noto Sans K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3511783"/>
            <a:ext cx="5605462" cy="2767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 err="1">
                <a:solidFill>
                  <a:srgbClr val="475569"/>
                </a:solidFill>
                <a:latin typeface="Noto Sans KR"/>
              </a:rPr>
              <a:t>기업</a:t>
            </a:r>
            <a:r>
              <a:rPr sz="1500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Noto Sans KR"/>
              </a:rPr>
              <a:t>인턴십을</a:t>
            </a:r>
            <a:r>
              <a:rPr sz="1500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Noto Sans KR"/>
              </a:rPr>
              <a:t>통해</a:t>
            </a:r>
            <a:r>
              <a:rPr sz="1500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Noto Sans KR"/>
              </a:rPr>
              <a:t>취업</a:t>
            </a:r>
            <a:r>
              <a:rPr sz="1500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Noto Sans KR"/>
              </a:rPr>
              <a:t>성공률을</a:t>
            </a:r>
            <a:r>
              <a:rPr sz="1500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Noto Sans KR"/>
              </a:rPr>
              <a:t>높입니다</a:t>
            </a:r>
            <a:r>
              <a:rPr sz="1500" b="0" i="0" u="none" dirty="0">
                <a:solidFill>
                  <a:srgbClr val="475569"/>
                </a:solidFill>
                <a:latin typeface="Noto Sans K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4210050"/>
            <a:ext cx="5300662" cy="289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334155"/>
                </a:solidFill>
                <a:latin typeface="Noto Sans KR"/>
              </a:rPr>
              <a:t>최대 3개월간 실무 체험 참여 및 수당 별도 지급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4642395"/>
            <a:ext cx="5300662" cy="289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334155"/>
                </a:solidFill>
                <a:latin typeface="Noto Sans KR"/>
              </a:rPr>
              <a:t>취업 연계 가능성 극대화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71500"/>
            <a:ext cx="11201400" cy="434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420"/>
              </a:lnSpc>
            </a:pPr>
            <a:r>
              <a:rPr sz="2850" b="1" i="0" u="none" dirty="0" err="1">
                <a:solidFill>
                  <a:srgbClr val="0F172A"/>
                </a:solidFill>
                <a:latin typeface="Noto Sans KR"/>
              </a:rPr>
              <a:t>실전</a:t>
            </a:r>
            <a:r>
              <a:rPr sz="285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2850" b="1" i="0" u="none" dirty="0" err="1">
                <a:solidFill>
                  <a:srgbClr val="0F172A"/>
                </a:solidFill>
                <a:latin typeface="Noto Sans KR"/>
              </a:rPr>
              <a:t>역량</a:t>
            </a:r>
            <a:r>
              <a:rPr sz="285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2850" b="1" i="0" u="none" dirty="0" err="1">
                <a:solidFill>
                  <a:srgbClr val="0F172A"/>
                </a:solidFill>
                <a:latin typeface="Noto Sans KR"/>
              </a:rPr>
              <a:t>강화</a:t>
            </a:r>
            <a:r>
              <a:rPr sz="2850" b="1" i="0" u="none" dirty="0">
                <a:solidFill>
                  <a:srgbClr val="0F172A"/>
                </a:solidFill>
                <a:latin typeface="Noto Sans KR"/>
              </a:rPr>
              <a:t>! </a:t>
            </a:r>
            <a:r>
              <a:rPr sz="2850" b="1" i="0" u="none" dirty="0" err="1">
                <a:solidFill>
                  <a:srgbClr val="0F172A"/>
                </a:solidFill>
                <a:latin typeface="Noto Sans KR"/>
              </a:rPr>
              <a:t>일경험</a:t>
            </a:r>
            <a:r>
              <a:rPr sz="285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2850" b="1" i="0" u="none" dirty="0" err="1">
                <a:solidFill>
                  <a:srgbClr val="0F172A"/>
                </a:solidFill>
                <a:latin typeface="Noto Sans KR"/>
              </a:rPr>
              <a:t>프로그램</a:t>
            </a:r>
            <a:endParaRPr sz="2850" b="1" i="0" u="none" dirty="0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62000" y="1005780"/>
            <a:ext cx="57150" cy="3429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210050"/>
            <a:ext cx="15240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642395"/>
            <a:ext cx="152400" cy="180975"/>
          </a:xfrm>
          <a:prstGeom prst="rect">
            <a:avLst/>
          </a:prstGeom>
        </p:spPr>
      </p:pic>
      <p:pic>
        <p:nvPicPr>
          <p:cNvPr id="17" name="그림 16" descr="의류, 사람, 인간의 얼굴, 청바지이(가) 표시된 사진&#10;&#10;자동 생성된 설명">
            <a:extLst>
              <a:ext uri="{FF2B5EF4-FFF2-40B4-BE49-F238E27FC236}">
                <a16:creationId xmlns:a16="http://schemas.microsoft.com/office/drawing/2014/main" id="{3DAF26DD-C246-C7FA-DB75-7BE5EB3342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262" y="1434555"/>
            <a:ext cx="3751160" cy="4210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070" y="2196405"/>
            <a:ext cx="8107858" cy="38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203" y="1815405"/>
            <a:ext cx="762000" cy="76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1734" y="1815405"/>
            <a:ext cx="762000" cy="76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8265" y="1815405"/>
            <a:ext cx="762000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4796" y="1815405"/>
            <a:ext cx="762000" cy="76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6229350"/>
            <a:ext cx="10668000" cy="342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6381750"/>
            <a:ext cx="52580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3A8A"/>
                </a:solidFill>
                <a:latin typeface="Noto Sans KR"/>
              </a:rPr>
              <a:t>STAFFS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8825" y="6381750"/>
            <a:ext cx="17811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Noto Sans KR"/>
              </a:rPr>
              <a:t>인재서비스 대표그룹 스탭스(주)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6133" y="2815530"/>
            <a:ext cx="112014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Noto Sans KR"/>
              </a:rPr>
              <a:t>1. 학원 방문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4808" y="3234630"/>
            <a:ext cx="2095500" cy="20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 dirty="0" err="1">
                <a:solidFill>
                  <a:srgbClr val="475569"/>
                </a:solidFill>
                <a:latin typeface="Noto Sans KR"/>
              </a:rPr>
              <a:t>진로상담</a:t>
            </a:r>
            <a:r>
              <a:rPr sz="1200" b="0" i="0" u="none" dirty="0">
                <a:solidFill>
                  <a:srgbClr val="475569"/>
                </a:solidFill>
                <a:latin typeface="Noto Sans KR"/>
              </a:rPr>
              <a:t> 및 </a:t>
            </a:r>
            <a:r>
              <a:rPr sz="1200" b="0" i="0" u="none" dirty="0" err="1">
                <a:solidFill>
                  <a:srgbClr val="475569"/>
                </a:solidFill>
                <a:latin typeface="Noto Sans KR"/>
              </a:rPr>
              <a:t>국취제</a:t>
            </a:r>
            <a:r>
              <a:rPr sz="1200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Noto Sans KR"/>
              </a:rPr>
              <a:t>연계</a:t>
            </a:r>
            <a:r>
              <a:rPr sz="1200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Noto Sans KR"/>
              </a:rPr>
              <a:t>안내</a:t>
            </a:r>
            <a:endParaRPr sz="1200" b="0" i="0" u="none" dirty="0">
              <a:solidFill>
                <a:srgbClr val="475569"/>
              </a:solidFill>
              <a:latin typeface="Noto Sans K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72651" y="2815530"/>
            <a:ext cx="132016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Noto Sans KR"/>
              </a:rPr>
              <a:t>2. 국취제 신청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4984" y="3234630"/>
            <a:ext cx="2411016" cy="20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 dirty="0">
                <a:solidFill>
                  <a:srgbClr val="475569"/>
                </a:solidFill>
                <a:latin typeface="Noto Sans KR"/>
              </a:rPr>
              <a:t>스탭스(주) </a:t>
            </a:r>
            <a:r>
              <a:rPr sz="1200" b="0" i="0" u="none" dirty="0" err="1">
                <a:solidFill>
                  <a:srgbClr val="475569"/>
                </a:solidFill>
                <a:latin typeface="Noto Sans KR"/>
              </a:rPr>
              <a:t>서울남부센터</a:t>
            </a:r>
            <a:r>
              <a:rPr sz="1200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Noto Sans KR"/>
              </a:rPr>
              <a:t>방문</a:t>
            </a:r>
            <a:r>
              <a:rPr sz="1200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Noto Sans KR"/>
              </a:rPr>
              <a:t>신청</a:t>
            </a:r>
            <a:endParaRPr sz="1200" b="0" i="0" u="none" dirty="0">
              <a:solidFill>
                <a:srgbClr val="475569"/>
              </a:solidFill>
              <a:latin typeface="Noto Sans K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99195" y="2815530"/>
            <a:ext cx="112014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Noto Sans KR"/>
              </a:rPr>
              <a:t>3. 수당 수령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1515" y="3234630"/>
            <a:ext cx="224295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 dirty="0" err="1">
                <a:solidFill>
                  <a:srgbClr val="475569"/>
                </a:solidFill>
                <a:latin typeface="Noto Sans KR"/>
              </a:rPr>
              <a:t>학원</a:t>
            </a:r>
            <a:r>
              <a:rPr sz="1200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Noto Sans KR"/>
              </a:rPr>
              <a:t>수강하며</a:t>
            </a:r>
            <a:r>
              <a:rPr sz="1200" b="0" i="0" u="none" dirty="0">
                <a:solidFill>
                  <a:srgbClr val="475569"/>
                </a:solidFill>
                <a:latin typeface="Noto Sans KR"/>
              </a:rPr>
              <a:t> 1유형 </a:t>
            </a:r>
            <a:r>
              <a:rPr sz="1200" b="0" i="0" u="none" dirty="0" err="1">
                <a:solidFill>
                  <a:srgbClr val="475569"/>
                </a:solidFill>
                <a:latin typeface="Noto Sans KR"/>
              </a:rPr>
              <a:t>구직촉진수당</a:t>
            </a:r>
            <a:r>
              <a:rPr sz="1200" b="0" i="0" u="none" dirty="0">
                <a:solidFill>
                  <a:srgbClr val="475569"/>
                </a:solidFill>
                <a:latin typeface="Noto Sans KR"/>
              </a:rPr>
              <a:t> 및 2유형 </a:t>
            </a:r>
            <a:r>
              <a:rPr sz="1200" b="0" i="0" u="none" dirty="0" err="1">
                <a:solidFill>
                  <a:srgbClr val="475569"/>
                </a:solidFill>
                <a:latin typeface="Noto Sans KR"/>
              </a:rPr>
              <a:t>참여수당</a:t>
            </a:r>
            <a:r>
              <a:rPr sz="1200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Noto Sans KR"/>
              </a:rPr>
              <a:t>지급</a:t>
            </a:r>
            <a:endParaRPr sz="1200" b="0" i="0" u="none" dirty="0">
              <a:solidFill>
                <a:srgbClr val="475569"/>
              </a:solidFill>
              <a:latin typeface="Noto Sans K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25726" y="2815530"/>
            <a:ext cx="112014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Noto Sans KR"/>
              </a:rPr>
              <a:t>4. 취업 성공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8046" y="3234630"/>
            <a:ext cx="224295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 dirty="0" err="1">
                <a:solidFill>
                  <a:srgbClr val="475569"/>
                </a:solidFill>
                <a:latin typeface="Noto Sans KR"/>
              </a:rPr>
              <a:t>장기</a:t>
            </a:r>
            <a:r>
              <a:rPr sz="1200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Noto Sans KR"/>
              </a:rPr>
              <a:t>근속</a:t>
            </a:r>
            <a:r>
              <a:rPr sz="1200" b="0" i="0" u="none" dirty="0">
                <a:solidFill>
                  <a:srgbClr val="475569"/>
                </a:solidFill>
                <a:latin typeface="Noto Sans KR"/>
              </a:rPr>
              <a:t> 시 </a:t>
            </a:r>
            <a:r>
              <a:rPr sz="1200" b="0" i="0" u="none" dirty="0" err="1">
                <a:solidFill>
                  <a:srgbClr val="475569"/>
                </a:solidFill>
                <a:latin typeface="Noto Sans KR"/>
              </a:rPr>
              <a:t>성공금</a:t>
            </a:r>
            <a:r>
              <a:rPr sz="1200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Noto Sans KR"/>
              </a:rPr>
              <a:t>최대</a:t>
            </a:r>
            <a:r>
              <a:rPr sz="1200" b="0" i="0" u="none" dirty="0">
                <a:solidFill>
                  <a:srgbClr val="475569"/>
                </a:solidFill>
                <a:latin typeface="Noto Sans KR"/>
              </a:rPr>
              <a:t> 150만원 </a:t>
            </a:r>
            <a:r>
              <a:rPr sz="1200" b="0" i="0" u="none" dirty="0" err="1">
                <a:solidFill>
                  <a:srgbClr val="475569"/>
                </a:solidFill>
                <a:latin typeface="Noto Sans KR"/>
              </a:rPr>
              <a:t>지급</a:t>
            </a:r>
            <a:endParaRPr sz="1200" b="0" i="0" u="none" dirty="0">
              <a:solidFill>
                <a:srgbClr val="475569"/>
              </a:solidFill>
              <a:latin typeface="Noto Sans K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2000" y="571500"/>
            <a:ext cx="11201400" cy="434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420"/>
              </a:lnSpc>
            </a:pPr>
            <a:r>
              <a:rPr sz="2850" b="1" i="0" u="none">
                <a:solidFill>
                  <a:srgbClr val="0F172A"/>
                </a:solidFill>
                <a:latin typeface="Noto Sans KR"/>
              </a:rPr>
              <a:t>상담부터 수강까지 '원스톱' 경로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1005780"/>
            <a:ext cx="57150" cy="3429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229350"/>
            <a:ext cx="1066800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381750"/>
            <a:ext cx="52580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3A8A"/>
                </a:solidFill>
                <a:latin typeface="Noto Sans KR"/>
              </a:rPr>
              <a:t>STAFFS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8825" y="6381750"/>
            <a:ext cx="17811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Noto Sans KR"/>
              </a:rPr>
              <a:t>인재서비스 대표그룹 스탭스(주)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8250" y="2484090"/>
            <a:ext cx="488561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FFFFF"/>
                </a:solidFill>
                <a:latin typeface="Noto Sans KR Black"/>
              </a:rPr>
              <a:t>스탭스(주) 서울남부센터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9750" y="3293715"/>
            <a:ext cx="20383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FFFFF"/>
                </a:solidFill>
                <a:latin typeface="Noto Sans KR Medium"/>
              </a:rPr>
              <a:t>TEL. 02-3665-9480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9750" y="3817590"/>
            <a:ext cx="334327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FFFFF"/>
                </a:solidFill>
                <a:latin typeface="Noto Sans KR Medium"/>
              </a:rPr>
              <a:t>E-MAIL. wndofma@staffs.co.kr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71500"/>
            <a:ext cx="11201400" cy="434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420"/>
              </a:lnSpc>
            </a:pPr>
            <a:r>
              <a:rPr sz="2850" b="1" i="0" u="none" dirty="0" err="1">
                <a:solidFill>
                  <a:srgbClr val="0F172A"/>
                </a:solidFill>
                <a:latin typeface="Noto Sans KR"/>
              </a:rPr>
              <a:t>문의</a:t>
            </a:r>
            <a:r>
              <a:rPr sz="2850" b="1" i="0" u="none" dirty="0">
                <a:solidFill>
                  <a:srgbClr val="0F172A"/>
                </a:solidFill>
                <a:latin typeface="Noto Sans KR"/>
              </a:rPr>
              <a:t> 및 </a:t>
            </a:r>
            <a:r>
              <a:rPr sz="2850" b="1" i="0" u="none" dirty="0" err="1">
                <a:solidFill>
                  <a:srgbClr val="0F172A"/>
                </a:solidFill>
                <a:latin typeface="Noto Sans KR"/>
              </a:rPr>
              <a:t>상담</a:t>
            </a:r>
            <a:r>
              <a:rPr sz="285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2850" b="1" i="0" u="none" dirty="0" err="1">
                <a:solidFill>
                  <a:srgbClr val="0F172A"/>
                </a:solidFill>
                <a:latin typeface="Noto Sans KR"/>
              </a:rPr>
              <a:t>안내</a:t>
            </a:r>
            <a:endParaRPr sz="2850" b="1" i="0" u="none" dirty="0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62000" y="1005780"/>
            <a:ext cx="57150" cy="3429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그림 23" descr="텍스트, 스크린샷, 도표, 폰트이(가) 표시된 사진&#10;&#10;자동 생성된 설명">
            <a:extLst>
              <a:ext uri="{FF2B5EF4-FFF2-40B4-BE49-F238E27FC236}">
                <a16:creationId xmlns:a16="http://schemas.microsoft.com/office/drawing/2014/main" id="{ED66E1B0-0C9E-79A0-B0B2-F17D5F065E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962" y="1120660"/>
            <a:ext cx="10214610" cy="50128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440</Words>
  <Application>Microsoft Office PowerPoint</Application>
  <PresentationFormat>와이드스크린</PresentationFormat>
  <Paragraphs>72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Noto Sans KR</vt:lpstr>
      <vt:lpstr>Noto Sans KR Black</vt:lpstr>
      <vt:lpstr>Noto Sans KR Medium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staffs007</cp:lastModifiedBy>
  <cp:revision>4</cp:revision>
  <dcterms:created xsi:type="dcterms:W3CDTF">2013-01-27T09:14:16Z</dcterms:created>
  <dcterms:modified xsi:type="dcterms:W3CDTF">2026-07-21T03:20:05Z</dcterms:modified>
  <cp:category/>
</cp:coreProperties>
</file>